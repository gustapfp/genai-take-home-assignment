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technology sector is a cornerstone of modern economic growth, largely due to its broad impact across virtually all industry sectors. It's composed of companies engaged in the development of software, electronics, and other digital products and services like Apple, Google, and Microsoft. Banks, for example, allocate approximately 10% of their revenues to tech investments, showcasing the sector's importance and integration within financial services [source: Integrate.io]. The tech industry is also revolutionizing traditional business models through rapid advancements in AI and automation, allowing businesses to operate on unprecedented scales. The shift to remote work, widely embraced by the tech sector, further amplifies its transformative role by allowing companies to leverage global talent without geographical constraints [source: UChicago].</a:t>
            </a:r>
          </a:p>
          <a:p/>
          <a:p>
            <a:r>
              <a:t>Sources:</a:t>
            </a:r>
          </a:p>
          <a:p>
            <a:r>
              <a:t>- https://www.investopedia.com/terms/t/technology_sector.asp</a:t>
            </a:r>
          </a:p>
          <a:p>
            <a:r>
              <a:t>- https://www.integrate.io/blog/data-transformation-challenge-statistics/</a:t>
            </a:r>
          </a:p>
          <a:p>
            <a:r>
              <a:t>- https://esnaad.com/the-role-of-technology-in-driving-economic-growth/</a:t>
            </a:r>
          </a:p>
          <a:p>
            <a:r>
              <a:t>- https://grad.uchicago.edu/wp-content/uploads/2021/03/IT-Industry-Guide-.pdf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historical growth of the tech industry is marked by significant economic contributions and expansion. In 2023, the computer systems and related services boosted the U.S. economy by nearly $489.2 billion [source: U.S. Trade Department]. There are roughly 585,000 software and IT services companies in the U.S., showcasing the vast scale and presence of the sector. International interest is also evident with foreign direct investment reaching $102.8 billion in the same period. Employment within the industry is on an upward trajectory, anticipated to reach 6.6 million by 2024, signaling ongoing robust job creation. As we explore these data points, consider the pivotal role that technological advancements like AI and IoT play in sustaining this growth.</a:t>
            </a:r>
          </a:p>
          <a:p/>
          <a:p>
            <a:r>
              <a:t>Sources:</a:t>
            </a:r>
          </a:p>
          <a:p>
            <a:r>
              <a:t>- https://www.trade.gov/selectusa-software-and-information-technology-industry</a:t>
            </a:r>
          </a:p>
          <a:p>
            <a:r>
              <a:t>- https://www.pwc.com/us/en/industries/tmt/library/tmt-trends.html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market trends in the tech industry are largely influenced by emerging technologies. Artificial Intelligence, for instance, is forecasted to grow by 37.3% annually through 2030 [source: F12.net], with more than half of companies ranking it among their top investment priorities [source: PwC]. The amalgamation of AI with IoT has led to enhanced operational efficiencies across sectors by enabling predictive maintenance and better customer engagement. Meanwhile, quantum computing and neuromorphic computing are on the horizon, promising extraordinary advancements in computational power. As we dive deeper, let's consider how these technological advancements are shaping the competitive landscape and what that means for future growth.</a:t>
            </a:r>
          </a:p>
          <a:p/>
          <a:p>
            <a:r>
              <a:t>Sources:</a:t>
            </a:r>
          </a:p>
          <a:p>
            <a:r>
              <a:t>- https://f12.net/blog/the-emerging-technology-trends-you-cant-afford-to-ignore/</a:t>
            </a:r>
          </a:p>
          <a:p>
            <a:r>
              <a:t>- https://www.pwc.com/us/en/tech-effect/emerging-tech/emtech-survey.html</a:t>
            </a:r>
          </a:p>
          <a:p>
            <a:r>
              <a:t>- https://technologymagazine.com/top10/top-10-biggest-innovations-of-2023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Investments in the tech industry reveal a dynamic landscape. Global venture capital funding hit $126 billion in Q3 2025, underscoring continued investor interest, especially in AI sectors where startups command median valuations of $143 million for Series B funding [source: Bain]. Climate tech has also seen substantial investment, with $86.6 billion allocated, highlighting the focus on sustainable technology solutions. Tech mega-caps are further directing over $300 billion into AI initiatives, spanning infrastructure and custom development projects [source: Qubit Capital]. As we discuss these figures, consider how this financial commitment is shaping tech innovation and the competitive edge of companies within this space.</a:t>
            </a:r>
          </a:p>
          <a:p/>
          <a:p>
            <a:r>
              <a:t>Sources:</a:t>
            </a:r>
          </a:p>
          <a:p>
            <a:r>
              <a:t>- https://www.bain.com/insights/global-venture-capital-outlook-latest-trends-snap-chart/</a:t>
            </a:r>
          </a:p>
          <a:p>
            <a:r>
              <a:t>- https://qubit.capital/blog/ai-startup-fundraising-trends</a:t>
            </a:r>
          </a:p>
          <a:p>
            <a:r>
              <a:t>- https://qubit.capital/blog/startup-industry-trends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COVID-19 has dramatically accelerated tech industry growth, spotlighting the strategic importance of digital transformation. Technology's pivotal role became apparent as firms adapted to operate with minimal disruption, fostering a digital-first approach. Telehealth exemplified this change, with institutions like Cleveland Clinic increasing telehealth consultations from 2% to 75% [source: PMC]. Additionally, e-commerce witnessed a 19% revenue boost globally in 2020, as consumer behavior shifted online [source: Trade.gov]. The tech sector also saw a surge in entrepreneurship, evident in high-propensity business applications amid the pandemic. Let's explore how these shifts have not only changed company operations but also permanently transformed consumer expectations.</a:t>
            </a:r>
          </a:p>
          <a:p/>
          <a:p>
            <a:r>
              <a:t>Sources:</a:t>
            </a:r>
          </a:p>
          <a:p>
            <a:r>
              <a:t>- https://bernardmarr.com/impact-of-covid-19-on-technology/</a:t>
            </a:r>
          </a:p>
          <a:p>
            <a:r>
              <a:t>- https://pmc.ncbi.nlm.nih.gov/articles/PMC7324321/</a:t>
            </a:r>
          </a:p>
          <a:p>
            <a:r>
              <a:t>- https://www.trade.gov/impact-covid-pandemic-ecommerce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tech landscape is dominated by several key players whose innovations and strategies shape industry dynamics. Amazon has been a pioneer in e-commerce and cloud technology, constantly pushing the envelope in logistics and supply chain management [source: Technology Magazine]. Apple, with its iconic products like the iPhone, continues to drive consumer electronics and digital transformation. Alphabet, the parent company of Google, plays a significant role in digital advertising and cloud technology, while Nvidia, now the largest tech company by market cap at over $4 trillion, leads in graphics and AI computing power [source: CNBC]. These companies set benchmarks for success; how they navigate challenges influences the broader tech ecosystem.</a:t>
            </a:r>
          </a:p>
          <a:p/>
          <a:p>
            <a:r>
              <a:t>Sources:</a:t>
            </a:r>
          </a:p>
          <a:p>
            <a:r>
              <a:t>- https://technologymagazine.com/top10/the-top-10-technology-companies-2023</a:t>
            </a:r>
          </a:p>
          <a:p>
            <a:r>
              <a:t>- https://joinhandshake.com/blog/students/top-tech-companies/</a:t>
            </a:r>
          </a:p>
          <a:p>
            <a:r>
              <a:t>- https://www.cnbc.com/2025/09/05/tech-megacaps-worth-market-cap.html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Technological innovation continues to drive substantial growth in the tech sector. We see extensive cloud usage among organizations, with many utilizing private and multiple public cloud environments for critical operations [source: Technology Magazine]. The rollout of 5G by Nokia and T-Mobile is significantly boosting connectivity and enabling new services. AI and blockchain technologies are transforming traditional industries by enhancing productivity and data security. For instance, generative AI is poised to contribute $310 billion in additional annual profits to the retail sector by improving efficiencies [source: Strategy&amp;]. As we analyze these innovations, consider how they are not just trends but foundational shifts in how industries operate.</a:t>
            </a:r>
          </a:p>
          <a:p/>
          <a:p>
            <a:r>
              <a:t>Sources:</a:t>
            </a:r>
          </a:p>
          <a:p>
            <a:r>
              <a:t>- https://technologymagazine.com/top10/top-10-biggest-innovations-of-2023</a:t>
            </a:r>
          </a:p>
          <a:p>
            <a:r>
              <a:t>- https://www.pwc.com/us/en/tech-effect/emerging-tech/essential-eight-technologies.html</a:t>
            </a:r>
          </a:p>
          <a:p>
            <a:r>
              <a:t>- https://extrimian.io/exploring-the-impact-of-ai-and-blockchain-in-the-digital-world/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Despite the rapid growth and impact of technology, significant challenges persist. A substantial share of CEOs feel their firms lack the technological capabilities necessary for future success, prompting reinvestment in their infrastructures [source: Cambridge Intelligence]. Economic pressures, such as inflation and impending recession, are external disruptors affecting decision-making and strategy. Moreover, a notable shortage of skilled software developers exacerbates collaboration challenges, especially in remote environments [source: Reveal BI]. Finally, a complex landscape of AI regulations across states presents compliance challenges and is seen as a barrier to innovation. As we discuss these hurdles, consider potential strategies for overcoming them.</a:t>
            </a:r>
          </a:p>
          <a:p/>
          <a:p>
            <a:r>
              <a:t>Sources:</a:t>
            </a:r>
          </a:p>
          <a:p>
            <a:r>
              <a:t>- https://cambridge-intelligence.com/a-ceos-greatest-fears/</a:t>
            </a:r>
          </a:p>
          <a:p>
            <a:r>
              <a:t>- https://www.revealbi.io/whitepapers/reveal-survey-report-top-software-development-challenges-for-2023</a:t>
            </a:r>
          </a:p>
          <a:p>
            <a:r>
              <a:t>- https://www.uschamber.com/technology/the-hidden-cost-of-50-state-ai-laws-a-data-driven-breakdown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the tech industry's trajectory showcases a dominant trend towards AI becoming an indispensable infrastructure component across sectors. The industry is set to increase its capital expenditure significantly, with predictions exceeding $110 billion by 2026 [source: CNBC]. The demand for specialized AI skills continues to surge, with job postings reflecting a ninefold increase since 2021 [source: I'd Rather Be Writing]. The integration of AI into everyday services, like Microsoft 365 and Google Workspace, further indicates the widespread, transformative potential of these technologies. These insights set the stage for robust industry growth, setting new benchmarks in innovation and efficiency.</a:t>
            </a:r>
          </a:p>
          <a:p/>
          <a:p>
            <a:r>
              <a:t>Sources:</a:t>
            </a:r>
          </a:p>
          <a:p>
            <a:r>
              <a:t>- https://idratherbewriting.com/blog/tech-comm-predictions-for-2026</a:t>
            </a:r>
          </a:p>
          <a:p>
            <a:r>
              <a:t>- https://www.elsner.com/the-future-of-ai/</a:t>
            </a:r>
          </a:p>
          <a:p>
            <a:r>
              <a:t>- https://www.cnbc.com/2026/01/27/big-tech-earnings-2026-ai-spend.html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tech industry stands as a crucial pillar for global economic development, with AI leading significant transformations across sectors. Investment trends highlight a growing focus on technological innovation, promising new opportunities for both established firms and startups. However, we must address persistent regulatory and workforce challenges to ensure sustainable growth. Ultimately, the tech sector's future will shape the global economy, supporting innovation and efficiency across various industries. As we wrap up, consider how your organization could capitalize on these potential opportunities while navigating the inherent challenges.</a:t>
            </a:r>
          </a:p>
          <a:p/>
          <a:p>
            <a:r>
              <a:t>Sources:</a:t>
            </a:r>
          </a:p>
          <a:p>
            <a:r>
              <a:t>- https://www.pwc.com/gx/en/services/ai/ai-jobs-barometer.html</a:t>
            </a:r>
          </a:p>
          <a:p>
            <a:r>
              <a:t>- https://hai.stanford.edu/ai-index/2025-ai-index-report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Introduction to the Tech Industry</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Tech sector drives economic growth</a:t>
            </a:r>
          </a:p>
          <a:p>
            <a:pPr>
              <a:spcBef>
                <a:spcPts val="800"/>
              </a:spcBef>
              <a:defRPr sz="1800">
                <a:solidFill>
                  <a:srgbClr val="333333"/>
                </a:solidFill>
                <a:latin typeface="Calibri"/>
              </a:defRPr>
            </a:pPr>
            <a:r>
              <a:t>Investment in tech averages 10% of bank revenues</a:t>
            </a:r>
          </a:p>
          <a:p>
            <a:pPr>
              <a:spcBef>
                <a:spcPts val="800"/>
              </a:spcBef>
              <a:defRPr sz="1800">
                <a:solidFill>
                  <a:srgbClr val="333333"/>
                </a:solidFill>
                <a:latin typeface="Calibri"/>
              </a:defRPr>
            </a:pPr>
            <a:r>
              <a:t>Remote work revolution in tech</a:t>
            </a:r>
          </a:p>
          <a:p>
            <a:pPr>
              <a:spcBef>
                <a:spcPts val="800"/>
              </a:spcBef>
              <a:defRPr sz="1800">
                <a:solidFill>
                  <a:srgbClr val="333333"/>
                </a:solidFill>
                <a:latin typeface="Calibri"/>
              </a:defRPr>
            </a:pPr>
            <a:r>
              <a:t>AI and automation changing business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art_Tech_Industry_Economic_Contributions_1769808370.png"/>
          <p:cNvPicPr>
            <a:picLocks noChangeAspect="1"/>
          </p:cNvPicPr>
          <p:nvPr/>
        </p:nvPicPr>
        <p:blipFill>
          <a:blip r:embed="rId3"/>
          <a:stretch>
            <a:fillRect/>
          </a:stretch>
        </p:blipFill>
        <p:spPr>
          <a:xfrm>
            <a:off x="1730172" y="1600200"/>
            <a:ext cx="5683656" cy="3657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Current Market Trends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AI projected 37.3% annual growth rate</a:t>
            </a:r>
          </a:p>
          <a:p>
            <a:pPr>
              <a:spcBef>
                <a:spcPts val="800"/>
              </a:spcBef>
              <a:defRPr sz="1800">
                <a:solidFill>
                  <a:srgbClr val="333333"/>
                </a:solidFill>
                <a:latin typeface="Calibri"/>
              </a:defRPr>
            </a:pPr>
            <a:r>
              <a:t>55% of companies prioritize AI</a:t>
            </a:r>
          </a:p>
          <a:p>
            <a:pPr>
              <a:spcBef>
                <a:spcPts val="800"/>
              </a:spcBef>
              <a:defRPr sz="1800">
                <a:solidFill>
                  <a:srgbClr val="333333"/>
                </a:solidFill>
                <a:latin typeface="Calibri"/>
              </a:defRPr>
            </a:pPr>
            <a:r>
              <a:t>Integration of AI and IoT increases efficiency</a:t>
            </a:r>
          </a:p>
          <a:p>
            <a:pPr>
              <a:spcBef>
                <a:spcPts val="800"/>
              </a:spcBef>
              <a:defRPr sz="1800">
                <a:solidFill>
                  <a:srgbClr val="333333"/>
                </a:solidFill>
                <a:latin typeface="Calibri"/>
              </a:defRPr>
            </a:pPr>
            <a:r>
              <a:t>Quantum and neuromorphic computing emerging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art_Investment_in_Technology_by_Sector_1769808370.png"/>
          <p:cNvPicPr>
            <a:picLocks noChangeAspect="1"/>
          </p:cNvPicPr>
          <p:nvPr/>
        </p:nvPicPr>
        <p:blipFill>
          <a:blip r:embed="rId3"/>
          <a:stretch>
            <a:fillRect/>
          </a:stretch>
        </p:blipFill>
        <p:spPr>
          <a:xfrm>
            <a:off x="1730172" y="1600200"/>
            <a:ext cx="5683656" cy="3657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Impact of COVID-19 on Tech Growth</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Digital transformation accelerated in pandemic</a:t>
            </a:r>
          </a:p>
          <a:p>
            <a:pPr>
              <a:spcBef>
                <a:spcPts val="800"/>
              </a:spcBef>
              <a:defRPr sz="1800">
                <a:solidFill>
                  <a:srgbClr val="333333"/>
                </a:solidFill>
                <a:latin typeface="Calibri"/>
              </a:defRPr>
            </a:pPr>
            <a:r>
              <a:t>Increased reliance on tech firms</a:t>
            </a:r>
          </a:p>
          <a:p>
            <a:pPr>
              <a:spcBef>
                <a:spcPts val="800"/>
              </a:spcBef>
              <a:defRPr sz="1800">
                <a:solidFill>
                  <a:srgbClr val="333333"/>
                </a:solidFill>
                <a:latin typeface="Calibri"/>
              </a:defRPr>
            </a:pPr>
            <a:r>
              <a:t>Surge in telehealth and e-commerce</a:t>
            </a:r>
          </a:p>
          <a:p>
            <a:pPr>
              <a:spcBef>
                <a:spcPts val="800"/>
              </a:spcBef>
              <a:defRPr sz="1800">
                <a:solidFill>
                  <a:srgbClr val="333333"/>
                </a:solidFill>
                <a:latin typeface="Calibri"/>
              </a:defRPr>
            </a:pPr>
            <a:r>
              <a:t>Entrepreneurial response with new tech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Major Players in the Tech Industry</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Amazon leads in e-commerce and cloud computing</a:t>
            </a:r>
          </a:p>
          <a:p>
            <a:pPr>
              <a:spcBef>
                <a:spcPts val="800"/>
              </a:spcBef>
              <a:defRPr sz="1800">
                <a:solidFill>
                  <a:srgbClr val="333333"/>
                </a:solidFill>
                <a:latin typeface="Calibri"/>
              </a:defRPr>
            </a:pPr>
            <a:r>
              <a:t>Apple's innovation in consumer electronics</a:t>
            </a:r>
          </a:p>
          <a:p>
            <a:pPr>
              <a:spcBef>
                <a:spcPts val="800"/>
              </a:spcBef>
              <a:defRPr sz="1800">
                <a:solidFill>
                  <a:srgbClr val="333333"/>
                </a:solidFill>
                <a:latin typeface="Calibri"/>
              </a:defRPr>
            </a:pPr>
            <a:r>
              <a:t>Alphabet's vast influence via Google</a:t>
            </a:r>
          </a:p>
          <a:p>
            <a:pPr>
              <a:spcBef>
                <a:spcPts val="800"/>
              </a:spcBef>
              <a:defRPr sz="1800">
                <a:solidFill>
                  <a:srgbClr val="333333"/>
                </a:solidFill>
                <a:latin typeface="Calibri"/>
              </a:defRPr>
            </a:pPr>
            <a:r>
              <a:t>Nvidia's market cap reaches $4 trillion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Technological Innovations Driving Growth</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Cloud usage is extensive with 3 private, 2 public clouds</a:t>
            </a:r>
          </a:p>
          <a:p>
            <a:pPr>
              <a:spcBef>
                <a:spcPts val="800"/>
              </a:spcBef>
              <a:defRPr sz="1800">
                <a:solidFill>
                  <a:srgbClr val="333333"/>
                </a:solidFill>
                <a:latin typeface="Calibri"/>
              </a:defRPr>
            </a:pPr>
            <a:r>
              <a:t>5G rollout accelerates with Nokia, T-Mobile</a:t>
            </a:r>
          </a:p>
          <a:p>
            <a:pPr>
              <a:spcBef>
                <a:spcPts val="800"/>
              </a:spcBef>
              <a:defRPr sz="1800">
                <a:solidFill>
                  <a:srgbClr val="333333"/>
                </a:solidFill>
                <a:latin typeface="Calibri"/>
              </a:defRPr>
            </a:pPr>
            <a:r>
              <a:t>AI and blockchain redefining industries</a:t>
            </a:r>
          </a:p>
          <a:p>
            <a:pPr>
              <a:spcBef>
                <a:spcPts val="800"/>
              </a:spcBef>
              <a:defRPr sz="1800">
                <a:solidFill>
                  <a:srgbClr val="333333"/>
                </a:solidFill>
                <a:latin typeface="Calibri"/>
              </a:defRPr>
            </a:pPr>
            <a:r>
              <a:t>Generative AI boosts efficiencies in sectors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Challenges Facing the Tech Industry</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Inadequate technological capabilities among firms</a:t>
            </a:r>
          </a:p>
          <a:p>
            <a:pPr>
              <a:spcBef>
                <a:spcPts val="800"/>
              </a:spcBef>
              <a:defRPr sz="1800">
                <a:solidFill>
                  <a:srgbClr val="333333"/>
                </a:solidFill>
                <a:latin typeface="Calibri"/>
              </a:defRPr>
            </a:pPr>
            <a:r>
              <a:t>Economic pressures like inflation and recession</a:t>
            </a:r>
          </a:p>
          <a:p>
            <a:pPr>
              <a:spcBef>
                <a:spcPts val="800"/>
              </a:spcBef>
              <a:defRPr sz="1800">
                <a:solidFill>
                  <a:srgbClr val="333333"/>
                </a:solidFill>
                <a:latin typeface="Calibri"/>
              </a:defRPr>
            </a:pPr>
            <a:r>
              <a:t>Shortage of software developers</a:t>
            </a:r>
          </a:p>
          <a:p>
            <a:pPr>
              <a:spcBef>
                <a:spcPts val="800"/>
              </a:spcBef>
              <a:defRPr sz="1800">
                <a:solidFill>
                  <a:srgbClr val="333333"/>
                </a:solidFill>
                <a:latin typeface="Calibri"/>
              </a:defRPr>
            </a:pPr>
            <a:r>
              <a:t>Complex AI regulations impacting innovation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art_Tech_Industry_Future_Spending_Projections_1769808370.png"/>
          <p:cNvPicPr>
            <a:picLocks noChangeAspect="1"/>
          </p:cNvPicPr>
          <p:nvPr/>
        </p:nvPicPr>
        <p:blipFill>
          <a:blip r:embed="rId3"/>
          <a:stretch>
            <a:fillRect/>
          </a:stretch>
        </p:blipFill>
        <p:spPr>
          <a:xfrm>
            <a:off x="1730172" y="1600200"/>
            <a:ext cx="5683656" cy="3657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Conclusion and Key Takeaways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Role of AI and tech in global growth</a:t>
            </a:r>
          </a:p>
          <a:p>
            <a:pPr>
              <a:spcBef>
                <a:spcPts val="800"/>
              </a:spcBef>
              <a:defRPr sz="1800">
                <a:solidFill>
                  <a:srgbClr val="333333"/>
                </a:solidFill>
                <a:latin typeface="Calibri"/>
              </a:defRPr>
            </a:pPr>
            <a:r>
              <a:t>Growing investment and innovation in tech</a:t>
            </a:r>
          </a:p>
          <a:p>
            <a:pPr>
              <a:spcBef>
                <a:spcPts val="800"/>
              </a:spcBef>
              <a:defRPr sz="1800">
                <a:solidFill>
                  <a:srgbClr val="333333"/>
                </a:solidFill>
                <a:latin typeface="Calibri"/>
              </a:defRPr>
            </a:pPr>
            <a:r>
              <a:t>Ongoing regulatory and workforce challenges</a:t>
            </a:r>
          </a:p>
          <a:p>
            <a:pPr>
              <a:spcBef>
                <a:spcPts val="800"/>
              </a:spcBef>
              <a:defRPr sz="1800">
                <a:solidFill>
                  <a:srgbClr val="333333"/>
                </a:solidFill>
                <a:latin typeface="Calibri"/>
              </a:defRPr>
            </a:pPr>
            <a:r>
              <a:t>Pivotal future of the tech sector in global economy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